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5CDD8"/>
                </a:solidFill>
                <a:latin typeface="Arial"/>
              </a:defRPr>
            </a:pPr>
            <a:r>
              <a:rPr sz="900" b="0" i="0" u="none" strike="noStrike">
                <a:solidFill>
                  <a:srgbClr val="C5CDD8"/>
                </a:solidFill>
                <a:latin typeface="Arial"/>
              </a:rPr>
              <a:t>Coste energético relativo de LLMs (GPT-2 = 1x)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Consumo energético relativo</c:v>
                </c:pt>
              </c:strCache>
            </c:strRef>
          </c:tx>
          <c:spPr>
            <a:solidFill>
              <a:srgbClr val="FF4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GPT-2
(2019)</c:v>
                  </c:pt>
                  <c:pt idx="1">
                    <c:v>GPT-3
(2020)</c:v>
                  </c:pt>
                  <c:pt idx="2">
                    <c:v>GPT-4
(2023)</c:v>
                  </c:pt>
                  <c:pt idx="3">
                    <c:v>Proyección
2027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350</c:v>
                </c:pt>
                <c:pt idx="2">
                  <c:v>2800</c:v>
                </c:pt>
                <c:pt idx="3">
                  <c:v>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CD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6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CD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D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apertura.
Preguntar: ¿Qué diferencia hay entre un servidor normal y un supercomputador?
Permitir 2-3 respuestas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agenda brevemente. Mencionar que el taller Colab (ítem 04) es el núcleo práctico.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 estudiantes: ¿Conocen algún ejemplo donde se usen los dos juntos?
Respuesta guía: ChatGPT fue entrenado en ~10,000 GPUs A100 (cluster HPC de OpenAI).
AlphaFold 2 (proteínas) combina simulación molecular con deep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clave: el cuello de botella moderno no es el cómputo, es la transferencia de datos (memoria).
Analogía: la GPU es como una fábrica con 10,000 trabajadores haciendo tareas simples;
la CPU es el gerente que coordina. La RAM es el almacén: si es lenta, todo para.
Dato: NVIDIA H100 tiene 80GB de HBM3 con 3.35 TB/s de ancho de banda.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challenge (respuesta solo en notas):
¿Por qué no basta con maximizar solo los FLOPS?
RESPUESTA: Porque el cuello de botella suele ser memoria o I/O.
El modelo de techo (Roofline Model) muestra que si la intensidad aritmética es baja,
el sistema está limitado por ancho de banda, no por FLOPS.
Ejemplo: una operación de reducción simple es memory-bound, no compute-bound.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Instrucciones para el docente:
1. Distribuir el link del notebook ANTES de clase (o compartir por classroom).
2. Permitir que estudiantes conecten su GPU primero — puede haber cola.
3. El paso 3 es el núcleo: los estudiantes verán speedups de 50x-200x.
4. Pedir que anoten sus tiempos en la hoja compartida para comparar entre grupos.
Tiempo estimado: 35-40 minutos de trabajo autónomo.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reflexión (par-plenum, 5 min):
¿Qué pasaría si eliminaran la parte HPC de uno de estos casos?
Guía: AlphaFold sin HPC tardaría años en una laptop; los LLMs serían imposibles de entrenar;
el pronóstico climático volvería a la resolución de los años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para debate (respuesta solo aquí):
¿Qué estrategia técnica permite entrenar un modelo que no cabe en la GPU?
RESPUESTAS:
1. Model Parallelism: dividir capas entre GPUs
2. Gradient Checkpointing: recomputar activaciones en lugar de guardarlas
3. Mixed Precision (FP16/BF16/FP8): reduce uso de memoria a la mitad
4. CPU Offloading (ZeRO-Offload): mueve optimizer states a RAM del host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PARA EL DOCENTE (NO mostrar en pantalla):
Ley de Amdahl: Speedup = 1 / [ (1 - p) + p/s ]
Donde p = fracción paralizable = 0.90, s = speedup de la parte paralela = 200
Speedup = 1 / [ 0.10 + 0.90/200 ]
         = 1 / [ 0.10 + 0.0045 ]
         = 1 / 0.1045
         ≈ 9.57×
Lección: Aunque la GPU sea 200× más rápida, el 10% serial limita el speedup total a ~9.5×.
Esto ilustra por qué optimizar el código serial es tan crucial como acelerar el paralelo.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pregunta: ¿Qué aplicación les gustaría construir si tuvieran acceso a 1000 GPUs?
Permitir respuestas libres — conecta con el taller Colab completado.
Próximo taller: Computación Cuántica-HPC Híbrida (Taller 10 / IBM Quantum Composer).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1A26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228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HPC · IA · Convergencia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AI-HPC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D4FF"/>
                </a:solidFill>
              </a:rPr>
              <a:t>Convergence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5CDD8"/>
                </a:solidFill>
              </a:rPr>
              <a:t>Cuando los supercomputadores aprenden a pensar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12700">
            <a:solidFill>
              <a:srgbClr val="141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CINF102  ·  Fundamentos de Cómputo de Alto Desempeño  ·  2026-10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097280"/>
            <a:ext cx="109728" cy="109728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1097280"/>
            <a:ext cx="109728" cy="109728"/>
          </a:xfrm>
          <a:prstGeom prst="ellipse">
            <a:avLst/>
          </a:prstGeom>
          <a:solidFill>
            <a:srgbClr val="9B6D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097280"/>
            <a:ext cx="109728" cy="109728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1097280"/>
            <a:ext cx="109728" cy="109728"/>
          </a:xfrm>
          <a:prstGeom prst="ellipse">
            <a:avLst/>
          </a:prstGeom>
          <a:solidFill>
            <a:srgbClr val="9B6D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1097280"/>
            <a:ext cx="109728" cy="109728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1097280"/>
            <a:ext cx="109728" cy="109728"/>
          </a:xfrm>
          <a:prstGeom prst="ellipse">
            <a:avLst/>
          </a:prstGeom>
          <a:solidFill>
            <a:srgbClr val="9B6D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 del Taller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618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155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¿Qué es la convergencia AI-HPC?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22402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41D38"/>
          </a:solidFill>
          <a:ln w="12700">
            <a:solidFill>
              <a:srgbClr val="FF4D8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688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F4D8B">
              <a:alpha val="85000"/>
            </a:srgbClr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963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3500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Arquitecturas heterogéneas (CPU+GPU)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65760" y="34747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41D38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7033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FB800">
              <a:alpha val="8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03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3075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5844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Métricas clave: FLOPS, Throughput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800600" y="10058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41D3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12344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0E5A0">
              <a:alpha val="8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920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04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618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06440" y="11155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Taller Colab: CPU vs GPU benchmark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800600" y="22402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41D38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92040" y="24688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9B6DFF">
              <a:alpha val="8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920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05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49631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806440" y="23500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Casos reales: LLMs, Digital Twins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4800600" y="34747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92040" y="37033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920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06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73075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06440" y="35844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Desafíos: energía, memoria, escala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es la Convergencia AI-HPC?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141D38"/>
          </a:solidFill>
          <a:ln w="12700">
            <a:solidFill>
              <a:srgbClr val="FF4D8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8B"/>
                </a:solidFill>
              </a:rPr>
              <a:t>Antes: dos mundos separados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HPC </a:t>
            </a:r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→ simulación científica
(clima, física, genómica)
</a:t>
            </a:r>
            <a:pPr algn="l" indent="0" marL="0">
              <a:buNone/>
            </a:pPr>
            <a:r>
              <a:rPr lang="en-US" sz="1250" b="1" dirty="0">
                <a:solidFill>
                  <a:srgbClr val="FFB800"/>
                </a:solidFill>
              </a:rPr>
              <a:t>IA </a:t>
            </a:r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→ reconocimiento de patrones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(imágenes, texto, voz)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846320" y="9144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1600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Hoy: un solo ecosistema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20116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Los modelos de IA </a:t>
            </a:r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requieren
</a:t>
            </a:r>
            <a:pPr algn="l" indent="0" marL="0">
              <a:buNone/>
            </a:pPr>
            <a:r>
              <a:rPr lang="en-US" sz="1250" b="1" dirty="0">
                <a:solidFill>
                  <a:srgbClr val="FFB800"/>
                </a:solidFill>
              </a:rPr>
              <a:t>billones de operaciones
</a:t>
            </a:r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→ imposible sin HPC
</a:t>
            </a:r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Los supercomputadores
</a:t>
            </a:r>
            <a:pPr algn="l" indent="0" marL="0">
              <a:buNone/>
            </a:pPr>
            <a:r>
              <a:rPr lang="en-US" sz="1250" b="1" dirty="0">
                <a:solidFill>
                  <a:srgbClr val="00E5A0"/>
                </a:solidFill>
              </a:rPr>
              <a:t>usan IA </a:t>
            </a:r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para acelerar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simulaciones científicas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24528" y="2743200"/>
            <a:ext cx="594360" cy="0"/>
          </a:xfrm>
          <a:prstGeom prst="line">
            <a:avLst/>
          </a:prstGeom>
          <a:noFill/>
          <a:ln w="31750">
            <a:solidFill>
              <a:srgbClr val="FFB800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411480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800"/>
                </a:solidFill>
              </a:rPr>
              <a:t>⟷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Arquitecturas Heterogéneas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CDD8"/>
                </a:solidFill>
              </a:rPr>
              <a:t>CPU + GPU + memoria de alta velocidad trabajando en conjunto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4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0515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CPU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El coordinador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48716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Pocos núcleos muy veloces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Control de flujo y lógica compleja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Gestión del sistema operativo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422452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0A0E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~0.5 TFLOPS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14300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41D38"/>
          </a:solidFill>
          <a:ln w="19050">
            <a:solidFill>
              <a:srgbClr val="FF4D8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931920" y="10515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GPU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3040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8B"/>
                </a:solidFill>
              </a:rPr>
              <a:t>El acelerador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383280" y="248716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Miles de núcleos paralelos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Matrices y tensores a alta velocidad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Ideal para IA y simulación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20440" y="422452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0A0E1A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8B"/>
                </a:solidFill>
              </a:rPr>
              <a:t>~1000 TFLOPS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72200" y="114300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41D38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58000" y="10515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RAM / HBM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594360" cy="5943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800"/>
                </a:solidFill>
              </a:rPr>
              <a:t>El cuello de botella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309360" y="248716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Velocidad de transferencia crítica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HBM3: &gt;1 TB/s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5CDD8"/>
                </a:solidFill>
              </a:rPr>
              <a:t>Memoria unificada en NVIDIA Grace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46520" y="4224528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0A0E1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4652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~3.5 TB/s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035808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5961888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Métricas Clave en AI-HPC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ExaFLOP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Frontera (Oak Ridge)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Primer exaflop, 2022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41D38"/>
          </a:solidFill>
          <a:ln w="12700">
            <a:solidFill>
              <a:srgbClr val="FF4D8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8B"/>
                </a:solidFill>
              </a:rPr>
              <a:t>10K+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5361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GPUs A100 para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entrenar GPT-4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41D38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00"/>
                </a:solidFill>
              </a:rPr>
              <a:t>700W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5361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Consumo de una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NVIDIA H100 SXM5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41D3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A0"/>
                </a:solidFill>
              </a:rPr>
              <a:t>80GB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5361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HBM3 por GPU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H100 (3.35 TB/s)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¿Cómo medimos rendimiento?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141D38"/>
          </a:solidFill>
          <a:ln w="12700">
            <a:solidFill>
              <a:srgbClr val="141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24128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FLOPS/s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3467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Operaciones de punto flotante por segundo. Mide potencia de cómputo bruta.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141D38"/>
          </a:solidFill>
          <a:ln w="12700">
            <a:solidFill>
              <a:srgbClr val="141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776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Throughput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306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Tokens/seg, muestras/seg. Mide cuánto trabajo útil se completa.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141D38"/>
          </a:solidFill>
          <a:ln w="12700">
            <a:solidFill>
              <a:srgbClr val="141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175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67528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Latencia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67528" y="33467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Tiempo de respuesta de una sola inferencia o kernel CUDA.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97764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141D38"/>
          </a:solidFill>
          <a:ln w="12700">
            <a:solidFill>
              <a:srgbClr val="141D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9776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67528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FLOPS/Watt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4306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Eficiencia energética. Crítico en centros de datos a gran escala.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Taller Práctico — Google Colab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CDD8"/>
                </a:solidFill>
              </a:rPr>
              <a:t>Usa una GPU real gratuita en la nube en menos de 5 minutos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621792"/>
          </a:xfrm>
          <a:prstGeom prst="roundRect">
            <a:avLst>
              <a:gd name="adj" fmla="val 10294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52728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Abrir Google Colab → Menú Entorno → Cambiar tipo de entorno → GPU T4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621792"/>
          </a:xfrm>
          <a:prstGeom prst="roundRect">
            <a:avLst>
              <a:gd name="adj" fmla="val 10294"/>
            </a:avLst>
          </a:prstGeom>
          <a:solidFill>
            <a:srgbClr val="141D38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02536"/>
            <a:ext cx="420624" cy="420624"/>
          </a:xfrm>
          <a:prstGeom prst="ellipse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20240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Verificar GPU con !nvidia-smi  y  torch.cuda.is_available()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8503920" cy="621792"/>
          </a:xfrm>
          <a:prstGeom prst="roundRect">
            <a:avLst>
              <a:gd name="adj" fmla="val 10294"/>
            </a:avLst>
          </a:prstGeom>
          <a:solidFill>
            <a:srgbClr val="141D3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52344"/>
            <a:ext cx="420624" cy="420624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670048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Benchmark: multiplicación de matrices 4096×4096  →  CPU vs GPU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8503920" cy="621792"/>
          </a:xfrm>
          <a:prstGeom prst="roundRect">
            <a:avLst>
              <a:gd name="adj" fmla="val 10294"/>
            </a:avLst>
          </a:prstGeom>
          <a:solidFill>
            <a:srgbClr val="141D38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02152"/>
            <a:ext cx="420624" cy="420624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419856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Perfilar con CUDA events y comparar speedup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8503920" cy="621792"/>
          </a:xfrm>
          <a:prstGeom prst="roundRect">
            <a:avLst>
              <a:gd name="adj" fmla="val 10294"/>
            </a:avLst>
          </a:prstGeom>
          <a:solidFill>
            <a:srgbClr val="141D38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51960"/>
            <a:ext cx="420624" cy="42062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169664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Analizar con la Ley de Amdahl: ¿cuál es el límite teórico?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286000" y="468172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9B6DFF">
              <a:alpha val="80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4681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📒  colab.research.google.com  →  abrir notebook compartido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Casos Reales de AI-HPC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🤖  GPT-4 / LLMs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🖥️ HPC: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~25,000 GPUs A100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Microsoft Azure cluster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🧠 IA: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Transformer con ~1 billón de parámetros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🎯 Generación de texto, código, imágenes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9326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141D3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32688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00E5A0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326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🧬  AlphaFold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</a:rPr>
              <a:t>🖥️ HPC: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TPU v4 + multi-GPU clusters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Google DeepMind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8470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</a:rPr>
              <a:t>🧠 IA: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Diffusion model + Evoformer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2311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🎯 Predicción de estructuras moleculares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900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141D38"/>
          </a:solidFill>
          <a:ln w="12700">
            <a:solidFill>
              <a:srgbClr val="FF4D8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90088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FF4D8B">
              <a:alpha val="80000"/>
            </a:srgbClr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🫀  Digital Twin Vascular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3538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8B"/>
                </a:solidFill>
              </a:rPr>
              <a:t>🖥️ HPC: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520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Frontera TACC / Summit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&gt;100K núcleos CPU+GPU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04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8B"/>
                </a:solidFill>
              </a:rPr>
              <a:t>🧠 IA: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Física + redes neuronales híbridas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2885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🎯 Simulación de flujo sanguíneo en tiempo real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900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141D38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90088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900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🌍  Predicción Climática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92040" y="3538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🖥️ HPC: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3520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NWP clusters &gt;10 PetaFLOPS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ECMWF, NOAA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904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🧠 IA: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3212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CDD8"/>
                </a:solidFill>
              </a:rPr>
              <a:t>ML para downscaling y parametrización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42885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🎯 Pronósticos 14 días con 90 % exactitud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Desafíos Críticos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17720" y="91440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41D3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81728" y="914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49240" y="969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Energía &amp; CO₂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49240" y="12435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Centros de datos: 2-3% del consumo eléctrico global. GPT-3 ≈ 550 toneladas de CO₂.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17720" y="1938528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81728" y="19385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492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Memory Wall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22677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Los modelos crecen más rápido que la VRAM disponible. Requieren sharding y offloading.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2962656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41D38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296265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4924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</a:rPr>
              <a:t>Interconexión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32918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Comunicación inter-GPU es el cuello de botella en clusters &gt;1000 nodos. InfiniBand / NVLink.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7720" y="3986784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41D38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81728" y="398678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34924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DFF"/>
                </a:solidFill>
              </a:rPr>
              <a:t>Seguridad &amp; Privacidad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49240" y="43159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DD8"/>
                </a:solidFill>
              </a:rPr>
              <a:t>Datos sensibles en HPC federado. Federated Learning y computación confidencial.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9B6DFF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❓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6DFF"/>
                </a:solidFill>
              </a:rPr>
              <a:t>Challenge Final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1691640"/>
          </a:xfrm>
          <a:prstGeom prst="roundRect">
            <a:avLst>
              <a:gd name="adj" fmla="val 6486"/>
            </a:avLst>
          </a:prstGeom>
          <a:solidFill>
            <a:srgbClr val="141D38"/>
          </a:solidFill>
          <a:ln w="19050">
            <a:solidFill>
              <a:srgbClr val="9B6D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212848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Si una operación de IA corre 200× más rápido en GPU que en CPU,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pero el 10 % del código es serial e inejectable en GPU,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¿cuál es el speedup máximo teórico según la Ley de Amdahl?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5CDD8"/>
                </a:solidFill>
              </a:rPr>
              <a:t>Discute con tu pareja · 4 minutos · Luego exponemos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4480560"/>
            <a:ext cx="548640" cy="548640"/>
          </a:xfrm>
          <a:prstGeom prst="ellipse">
            <a:avLst/>
          </a:prstGeom>
          <a:solidFill>
            <a:srgbClr val="9B6DFF">
              <a:alpha val="70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45354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DFF"/>
                </a:solidFill>
              </a:rPr>
              <a:t>4 min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76656"/>
          </a:xfrm>
          <a:prstGeom prst="roundRect">
            <a:avLst>
              <a:gd name="adj" fmla="val 9459"/>
            </a:avLst>
          </a:prstGeom>
          <a:solidFill>
            <a:srgbClr val="141D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AI y HPC ya no son separables: los LLMs más grandes requieren clusters de decenas de miles de GPUs.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8503920" cy="676656"/>
          </a:xfrm>
          <a:prstGeom prst="roundRect">
            <a:avLst>
              <a:gd name="adj" fmla="val 9459"/>
            </a:avLst>
          </a:prstGeom>
          <a:solidFill>
            <a:srgbClr val="141D38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746504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Las arquitecturas heterogéneas (CPU+GPU+HBM) definen el rendimiento real, no solo los FLOPS pico.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523744"/>
            <a:ext cx="8503920" cy="676656"/>
          </a:xfrm>
          <a:prstGeom prst="roundRect">
            <a:avLst>
              <a:gd name="adj" fmla="val 9459"/>
            </a:avLst>
          </a:prstGeom>
          <a:solidFill>
            <a:srgbClr val="141D3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23744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551176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La Ley de Amdahl acota el speedup: optimizar el código serial es tan importante como paralelizar.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328416"/>
            <a:ext cx="8503920" cy="676656"/>
          </a:xfrm>
          <a:prstGeom prst="roundRect">
            <a:avLst>
              <a:gd name="adj" fmla="val 9459"/>
            </a:avLst>
          </a:prstGeom>
          <a:solidFill>
            <a:srgbClr val="141D38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28416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El desafío de energía es real: la eficiencia (FLOPS/Watt) es ya una métrica de primera clase.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133088"/>
            <a:ext cx="8503920" cy="676656"/>
          </a:xfrm>
          <a:prstGeom prst="roundRect">
            <a:avLst>
              <a:gd name="adj" fmla="val 9459"/>
            </a:avLst>
          </a:prstGeom>
          <a:solidFill>
            <a:srgbClr val="141D38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33088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🔭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El siguiente horizonte: computación cuántica-HPC híbrida y chips neuromórficos para inferencia.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AI-HPC Convergence — Taller</dc:title>
  <dc:subject>PptxGenJS Presentation</dc:subject>
  <dc:creator>CINF102</dc:creator>
  <cp:lastModifiedBy>CINF102</cp:lastModifiedBy>
  <cp:revision>1</cp:revision>
  <dcterms:created xsi:type="dcterms:W3CDTF">2026-06-23T12:52:30Z</dcterms:created>
  <dcterms:modified xsi:type="dcterms:W3CDTF">2026-06-23T12:52:30Z</dcterms:modified>
</cp:coreProperties>
</file>